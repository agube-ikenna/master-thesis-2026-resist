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B4332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B4332"/>
                </a:solidFill>
                <a:latin typeface="Arial"/>
              </a:rPr>
              <a:t>Conductivity (µS/cm)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Boye</c:v>
                </c:pt>
              </c:strCache>
            </c:strRef>
          </c:tx>
          <c:spPr>
            <a:solidFill>
              <a:srgbClr val="C4453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C2C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Min</c:v>
                  </c:pt>
                  <c:pt idx="1">
                    <c:v>Med</c:v>
                  </c:pt>
                  <c:pt idx="2">
                    <c:v>Max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431</c:v>
                </c:pt>
                <c:pt idx="1">
                  <c:v>650</c:v>
                </c:pt>
                <c:pt idx="2">
                  <c:v>865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Kinzig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C2C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Min</c:v>
                  </c:pt>
                  <c:pt idx="1">
                    <c:v>Med</c:v>
                  </c:pt>
                  <c:pt idx="2">
                    <c:v>Max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144</c:v>
                </c:pt>
                <c:pt idx="1">
                  <c:v>290</c:v>
                </c:pt>
                <c:pt idx="2">
                  <c:v>438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C2C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2D6A4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40916C">
              <a:alpha val="5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457200"/>
            <a:ext cx="256032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457200"/>
            <a:ext cx="2560320" cy="4114800"/>
          </a:xfrm>
          <a:prstGeom prst="rect">
            <a:avLst/>
          </a:prstGeom>
          <a:solidFill>
            <a:srgbClr val="1B4332">
              <a:alpha val="50000"/>
            </a:srgbClr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576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00584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Leaf Decomposition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Across Multiple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Stressor Gradients</a:t>
            </a:r>
            <a:endParaRPr lang="en-US" sz="3200" dirty="0"/>
          </a:p>
        </p:txBody>
      </p:sp>
      <p:sp>
        <p:nvSpPr>
          <p:cNvPr id="8" name="Text 4"/>
          <p:cNvSpPr/>
          <p:nvPr/>
        </p:nvSpPr>
        <p:spPr>
          <a:xfrm>
            <a:off x="640080" y="28346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the Boye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Kinzig Catchments, Germany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40080" y="3611880"/>
            <a:ext cx="2286000" cy="36576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6"/>
          <p:cNvSpPr/>
          <p:nvPr/>
        </p:nvSpPr>
        <p:spPr>
          <a:xfrm>
            <a:off x="640080" y="3749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Ikenna Stephen Agube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0080" y="40690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Environmental Toxicology  |  University of Duisburg-Essen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V.C. Schreiner  |  SFB RESIST  | 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Outline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10332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2527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leaf decomposition as a bioassessment tool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6733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Area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18928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Boye (urban-industrial) vs. Kinzig (agricultural)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331720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31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3134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Aims &amp; Hypotheses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2532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 H1-H4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971800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71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2953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31729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campaign, lab processing, statistics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611880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11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3593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Results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3813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the Kinzig pilot study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251960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251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88720" y="42336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 &amp; Next Steps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88720" y="44531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and timeline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D8F3DC">
              <a:alpha val="50000"/>
            </a:srgbClr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10312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Leaf Decomposition?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011680" cy="2103120"/>
          </a:xfrm>
          <a:prstGeom prst="rect">
            <a:avLst/>
          </a:prstGeom>
          <a:solidFill>
            <a:srgbClr val="558B2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14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Input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16002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Alnus glutinosa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Allochthonous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source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868680"/>
            <a:ext cx="2011680" cy="2103120"/>
          </a:xfrm>
          <a:prstGeom prst="rect">
            <a:avLst/>
          </a:prstGeom>
          <a:solidFill>
            <a:srgbClr val="40916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914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651760" y="16002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Hyphomycetes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Fine-mesh (500 µm)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868680"/>
            <a:ext cx="2011680" cy="2103120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914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Invertebrate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Shredding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16002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Gammarus spp.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Trichoptera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Coarse-mesh (5 mm)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868680"/>
            <a:ext cx="2011680" cy="2103120"/>
          </a:xfrm>
          <a:prstGeom prst="rect">
            <a:avLst/>
          </a:prstGeom>
          <a:solidFill>
            <a:srgbClr val="1B433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32320" y="914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32320" y="16002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AFDM lost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degree-day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metric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1691640"/>
            <a:ext cx="228600" cy="228600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91640"/>
            <a:ext cx="228600" cy="228600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691640"/>
            <a:ext cx="228600" cy="2286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57200" y="3246120"/>
            <a:ext cx="8229600" cy="1554480"/>
          </a:xfrm>
          <a:prstGeom prst="rect">
            <a:avLst/>
          </a:prstGeom>
          <a:solidFill>
            <a:srgbClr val="D8F3D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" y="3246120"/>
            <a:ext cx="73152" cy="15544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1" name="Text 16"/>
          <p:cNvSpPr/>
          <p:nvPr/>
        </p:nvSpPr>
        <p:spPr>
          <a:xfrm>
            <a:off x="73152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731520" y="3611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rate is a </a:t>
            </a:r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indicator</a:t>
            </a:r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stream ecosystem health that integrates the cumulative effects of multiple stressors on biological communities (Gessner &amp; Chauvet, 2002).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731520" y="4069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alder leaves respond to different environmental drivers than artificial substrates (Schreiner et al., 2023)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uses only Alnus glutinosa to measure actual ecosystem function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Stressors in Stream Ecosystems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97480" cy="329184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697480" cy="82296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2412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9144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Nutrients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192024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NO₃, PO₄ enrichment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Stimulates fungal growth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degrades habitat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36576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Gulis &amp; Suberkropp, 2003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46120" y="914400"/>
            <a:ext cx="2697480" cy="329184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914400"/>
            <a:ext cx="2697480" cy="822960"/>
          </a:xfrm>
          <a:prstGeom prst="rect">
            <a:avLst/>
          </a:prstGeom>
          <a:solidFill>
            <a:srgbClr val="C4453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024128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9144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Metals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29000" y="192024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Cd, Cu, Fe, Ni, Pb, Zn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Suppresses hyphomycetes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 unit approach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29000" y="36576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Duarte et al., 2008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126480" y="914400"/>
            <a:ext cx="2697480" cy="329184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914400"/>
            <a:ext cx="2697480" cy="82296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8" name="Text 14"/>
          <p:cNvSpPr/>
          <p:nvPr/>
        </p:nvSpPr>
        <p:spPr>
          <a:xfrm>
            <a:off x="6126480" y="91440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Habitat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Substrate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309360" y="192024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sediment buries leaves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substrate → shredders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→ oxygen supply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309360" y="36576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Lepori et al., 2005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 are often non-additive across stressor types (Crain et al., 2008)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Area: Two Contrasting Catchments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2025 RESIST Field Campaign  |  44 sites  |  264 leaf bags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256032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3931920" cy="457200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BOYE  —  23 sites  —  Ruhr, NRW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Urban-industrial stressor profile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Conductivity: 431–865 µS/cm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trace metals (Cd, Cu, Zn, Fe)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substrate dominance (psammal)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coal mining &amp; smelting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LU: 2–93%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931920" cy="256032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97280"/>
            <a:ext cx="393192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KINZIG  —  21 sites  —  Hesse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16916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stressor profile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Conductivity: 144–438 µS/cm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trace metals (10x lower than Boye)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substrate heterogeneity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Rural-to-urban paired design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LU: 14–71%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0" y="1920240"/>
            <a:ext cx="548640" cy="54864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3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0" y="3749040"/>
            <a:ext cx="457200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286000" y="4846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Kinzig paired site layout (Agube, 2025)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D6A4F">
              <a:alpha val="6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28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Aims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environmental variables most robustly explain variation in decomposition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two contrasting German catchments?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320040" cy="32004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691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" y="16459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microbial and total DSM across 23 Boye and 21 Kinzig sites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468880"/>
            <a:ext cx="320040" cy="32004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43000" y="2423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strongest physicochemical, substrate, land use, and biological predictors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3246120"/>
            <a:ext cx="320040" cy="32004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43000" y="3200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metals → microbial suppression (Boye) vs. nutrients → stimulation (Kinzig)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4023360"/>
            <a:ext cx="320040" cy="32004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4023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43000" y="3977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streambed substrate role in modulating decomposition pathways</a:t>
            </a:r>
            <a:endParaRPr lang="en-US" sz="14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43891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Hypotheses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188720"/>
          </a:xfrm>
          <a:prstGeom prst="rect">
            <a:avLst/>
          </a:prstGeom>
          <a:solidFill>
            <a:srgbClr val="D8F3D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64008" cy="11887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868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 General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land use + conductivity negatively affect decomposition in both catchments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173736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94560"/>
            <a:ext cx="64008" cy="173736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 Comparative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2606040"/>
            <a:ext cx="3657600" cy="1097280"/>
          </a:xfrm>
          <a:prstGeom prst="rect">
            <a:avLst/>
          </a:prstGeom>
          <a:solidFill>
            <a:srgbClr val="C44536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6517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BOYE: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metal toxic units suppress microbial decomposition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(Duarte et al., 2008; Feyen et al., 2022)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606040"/>
            <a:ext cx="3931920" cy="1097280"/>
          </a:xfrm>
          <a:prstGeom prst="rect">
            <a:avLst/>
          </a:prstGeom>
          <a:solidFill>
            <a:srgbClr val="1565C0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26517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KINZIG: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 enrichment (NO₃ + PO₄) enhances microbial decomposition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(Gulis &amp; Suberkropp, 2003)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3931920" cy="77724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4160520"/>
            <a:ext cx="64008" cy="777240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2062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 Fine substrate (Boye) suppresses total but enhances microbial DSM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4160520"/>
            <a:ext cx="3931920" cy="7772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4160520"/>
            <a:ext cx="64008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42062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 CPOM availability (Kinzig) enhances total DSM via shredder support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 Design &amp; Lab Processing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822960"/>
            <a:ext cx="320040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297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Air-dried Alnus glutinosa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stock material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840480" y="868680"/>
            <a:ext cx="4937760" cy="658368"/>
          </a:xfrm>
          <a:prstGeom prst="rect">
            <a:avLst/>
          </a:prstGeom>
          <a:solidFill>
            <a:srgbClr val="D8F3D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977640" y="960120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8" name="Text 5"/>
          <p:cNvSpPr/>
          <p:nvPr/>
        </p:nvSpPr>
        <p:spPr>
          <a:xfrm>
            <a:off x="397764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0" y="9144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Preparation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g/bag  |  Fine (500 µm) + Coarse (5 mm)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840480" y="1645920"/>
            <a:ext cx="4937760" cy="658368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977640" y="1737360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3" name="Text 10"/>
          <p:cNvSpPr/>
          <p:nvPr/>
        </p:nvSpPr>
        <p:spPr>
          <a:xfrm>
            <a:off x="39776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72000" y="16916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0" y="1965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Boye: 4 Mar  |  Kinzig: 25 Mar  |  6 bags/site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840480" y="2423160"/>
            <a:ext cx="4937760" cy="658368"/>
          </a:xfrm>
          <a:prstGeom prst="rect">
            <a:avLst/>
          </a:prstGeom>
          <a:solidFill>
            <a:srgbClr val="D8F3D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977640" y="2514600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8" name="Text 15"/>
          <p:cNvSpPr/>
          <p:nvPr/>
        </p:nvSpPr>
        <p:spPr>
          <a:xfrm>
            <a:off x="397764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572000" y="24688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0" y="2743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14–17 days  |  Cooled transport  |  Disk cutting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840480" y="3200400"/>
            <a:ext cx="4937760" cy="658368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977640" y="3291840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3" name="Text 20"/>
          <p:cNvSpPr/>
          <p:nvPr/>
        </p:nvSpPr>
        <p:spPr>
          <a:xfrm>
            <a:off x="39776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572000" y="32461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Processing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0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60°C (48h) → 500°C (4h) → AFDM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840480" y="3977640"/>
            <a:ext cx="4937760" cy="658368"/>
          </a:xfrm>
          <a:prstGeom prst="rect">
            <a:avLst/>
          </a:prstGeom>
          <a:solidFill>
            <a:srgbClr val="D8F3D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977640" y="4069080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8" name="Text 25"/>
          <p:cNvSpPr/>
          <p:nvPr/>
        </p:nvSpPr>
        <p:spPr>
          <a:xfrm>
            <a:off x="397764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572000" y="40233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 Calculation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72000" y="4297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AFDM lost / (mean temp × days)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840480" y="47548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264 total bags  |  Transport controls for AFDM correction  |  Disk mass correction applied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Environmental Variables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840480"/>
                <a:gridCol w="25603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Physico-chemical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pH, conductivity, DO, temperature, redox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MultiLine 3630 IDS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Nutrients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PO₄, NH₄, NO₂, NO₃, TN, Cl, SO₄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(water samples)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 metals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Cd, Cu, Fe, Ni, Pb, Zn + major 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ICP-MS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Makro, meso, mikro, psammal, CPOM, FPOM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% cover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 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agricultural, urban, industrial, rural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 GIS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Invertebrates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 taxa (Boye); shredder %, Gammarus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Kick-net + bag sorting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Pipeline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3794760"/>
            <a:ext cx="1554480" cy="82296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7947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194560" y="3794760"/>
            <a:ext cx="1554480" cy="82296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9" name="Text 6"/>
          <p:cNvSpPr/>
          <p:nvPr/>
        </p:nvSpPr>
        <p:spPr>
          <a:xfrm>
            <a:off x="2194560" y="37947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Collinearity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|r| &gt; 0.70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931920" y="3794760"/>
            <a:ext cx="1554480" cy="82296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1" name="Text 8"/>
          <p:cNvSpPr/>
          <p:nvPr/>
        </p:nvSpPr>
        <p:spPr>
          <a:xfrm>
            <a:off x="3931920" y="37947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669280" y="3794760"/>
            <a:ext cx="1554480" cy="8229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3" name="Text 10"/>
          <p:cNvSpPr/>
          <p:nvPr/>
        </p:nvSpPr>
        <p:spPr>
          <a:xfrm>
            <a:off x="5669280" y="37947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406640" y="3794760"/>
            <a:ext cx="1554480" cy="82296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5" name="Text 12"/>
          <p:cNvSpPr/>
          <p:nvPr/>
        </p:nvSpPr>
        <p:spPr>
          <a:xfrm>
            <a:off x="7406640" y="37947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on 50% subsamples  |  ≥70% selection freq.  |  PFER ≤ 1  |  Separate models: microbial vs. total DSM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Internship Result: Microbial Decomposition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Kinzig catchment  |  20 paired rural-urban sites  |  Summer 2025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411480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1605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 from Agube (2025)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846320" y="1005840"/>
            <a:ext cx="3931920" cy="3200400"/>
          </a:xfrm>
          <a:prstGeom prst="rect">
            <a:avLst/>
          </a:prstGeom>
          <a:solidFill>
            <a:srgbClr val="D8F3D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846320" y="1005840"/>
            <a:ext cx="64008" cy="320040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9" name="Text 6"/>
          <p:cNvSpPr/>
          <p:nvPr/>
        </p:nvSpPr>
        <p:spPr>
          <a:xfrm>
            <a:off x="512064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120640" y="146304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difference
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0.652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Microbial decomposition was similar across rural and urban sites.
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Microbial communities appear functionally redundant or adapted, producing stable decomposition regardless of land use.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846320" y="42976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Gessner &amp; Chauvet (2002); Schreiner et al. (2023)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Internship Result: Total &amp; Invertebrate Decomposition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77240"/>
            <a:ext cx="36576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decomposition (p = 0.078)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14800" y="777240"/>
            <a:ext cx="3657600" cy="2926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480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Macroinvertebrate contribution (p = 0.086)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457200" y="3977640"/>
            <a:ext cx="8229600" cy="9144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9" name="Text 5"/>
          <p:cNvSpPr/>
          <p:nvPr/>
        </p:nvSpPr>
        <p:spPr>
          <a:xfrm>
            <a:off x="640080" y="40233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Directionally consistent: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&gt; Urban for total and invertebrate decomposition. Shredders comprised </a:t>
            </a:r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87.5%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individuals in rural bags vs. </a:t>
            </a:r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76.0%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urban.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Results: Thesis Extension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22960"/>
          <a:ext cx="38404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822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Patterns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0" y="1234440"/>
            <a:ext cx="4114800" cy="7315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0" y="1234440"/>
            <a:ext cx="54864" cy="731520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0" y="12801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754880" y="14630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toxic units suppress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microbial DSM; fine substrate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suppresses total DSM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0" y="2103120"/>
            <a:ext cx="4114800" cy="7315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2103120"/>
            <a:ext cx="54864" cy="7315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0" y="21488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Kinzig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54880" y="2331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Nutrients enhance microbial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DSM; CPOM enhances total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 via shredder support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0" y="2971800"/>
            <a:ext cx="4114800" cy="7315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2971800"/>
            <a:ext cx="54864" cy="7315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6" name="Text 13"/>
          <p:cNvSpPr/>
          <p:nvPr/>
        </p:nvSpPr>
        <p:spPr>
          <a:xfrm>
            <a:off x="4754880" y="3017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754880" y="3200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LU + conductivity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negatively predict decomposition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catchments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65760" y="3383280"/>
            <a:ext cx="8412480" cy="1463040"/>
          </a:xfrm>
          <a:prstGeom prst="rect">
            <a:avLst/>
          </a:prstGeom>
          <a:solidFill>
            <a:srgbClr val="D8F3D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4864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Thesis Adds Beyond the Internship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0080" y="3794760"/>
            <a:ext cx="201168" cy="20116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37947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60120" y="3776472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Boye catchment with trace metal data (urban-industrial comparison)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40080" y="4050792"/>
            <a:ext cx="201168" cy="20116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405079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960120" y="4032504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sites instead of 20; full environmental variable suite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0080" y="4306824"/>
            <a:ext cx="201168" cy="20116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7" name="Text 24"/>
          <p:cNvSpPr/>
          <p:nvPr/>
        </p:nvSpPr>
        <p:spPr>
          <a:xfrm>
            <a:off x="640080" y="43068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960120" y="4288536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selection (LASSO) for robust predictor identification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40080" y="4562856"/>
            <a:ext cx="201168" cy="20116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0" name="Text 27"/>
          <p:cNvSpPr/>
          <p:nvPr/>
        </p:nvSpPr>
        <p:spPr>
          <a:xfrm>
            <a:off x="640080" y="45628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960120" y="4544568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Fungal barcoding data (pending) for community-level analysis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2D6A4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200400"/>
            <a:ext cx="2743200" cy="2743200"/>
          </a:xfrm>
          <a:prstGeom prst="ellipse">
            <a:avLst/>
          </a:prstGeom>
          <a:solidFill>
            <a:srgbClr val="40916C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&amp; Next Steps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showed stable microbial DSM but reduced invertebrate contribution in urban Kinzig sites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08760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extends to 44 sites across two catchments with contrasting stressor profiles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11680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selection identifies robust drivers while controlling false positives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514600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comparative Boye-Kinzig decomposition dataset within the RESIST framework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457200" y="3063240"/>
            <a:ext cx="8229600" cy="1645920"/>
          </a:xfrm>
          <a:prstGeom prst="rect">
            <a:avLst/>
          </a:prstGeom>
          <a:solidFill>
            <a:srgbClr val="0B1F14">
              <a:alpha val="70000"/>
            </a:srgbClr>
          </a:solidFill>
          <a:ln/>
        </p:spPr>
      </p:sp>
      <p:sp>
        <p:nvSpPr>
          <p:cNvPr id="14" name="Text 8"/>
          <p:cNvSpPr/>
          <p:nvPr/>
        </p:nvSpPr>
        <p:spPr>
          <a:xfrm>
            <a:off x="64008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to Defense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640080" y="3520440"/>
            <a:ext cx="109728" cy="10972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6" name="Text 10"/>
          <p:cNvSpPr/>
          <p:nvPr/>
        </p:nvSpPr>
        <p:spPr>
          <a:xfrm>
            <a:off x="822960" y="34564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Apr–May 2026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822960" y="37033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pipeline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selection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2651760" y="3520440"/>
            <a:ext cx="109728" cy="10972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9" name="Text 13"/>
          <p:cNvSpPr/>
          <p:nvPr/>
        </p:nvSpPr>
        <p:spPr>
          <a:xfrm>
            <a:off x="2834640" y="34564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May–Jun 2026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2834640" y="37033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plots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chapter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663440" y="3520440"/>
            <a:ext cx="109728" cy="10972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2" name="Text 16"/>
          <p:cNvSpPr/>
          <p:nvPr/>
        </p:nvSpPr>
        <p:spPr>
          <a:xfrm>
            <a:off x="4846320" y="34564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Jun–Jul 2026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846320" y="37033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675120" y="3520440"/>
            <a:ext cx="109728" cy="10972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5" name="Text 19"/>
          <p:cNvSpPr/>
          <p:nvPr/>
        </p:nvSpPr>
        <p:spPr>
          <a:xfrm>
            <a:off x="6858000" y="34564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Aug–Sep 2026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858000" y="37033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revision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defense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| 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Leaf Decomposition Across Multiple Stressor Gradients</dc:title>
  <dc:subject>PptxGenJS Presentation</dc:subject>
  <dc:creator>Ikenna Stephen Agube</dc:creator>
  <cp:lastModifiedBy>Ikenna Stephen Agube</cp:lastModifiedBy>
  <cp:revision>1</cp:revision>
  <dcterms:created xsi:type="dcterms:W3CDTF">2026-04-02T09:13:53Z</dcterms:created>
  <dcterms:modified xsi:type="dcterms:W3CDTF">2026-04-02T09:13:53Z</dcterms:modified>
</cp:coreProperties>
</file>